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8"/>
  </p:notesMasterIdLst>
  <p:handoutMasterIdLst>
    <p:handoutMasterId r:id="rId29"/>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41" r:id="rId24"/>
    <p:sldId id="342" r:id="rId25"/>
    <p:sldId id="343" r:id="rId26"/>
    <p:sldId id="30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83F735-42AF-4572-95D3-DE7BE5F7F281}" v="1" dt="2026-09-07T16:10:39.06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6" d="100"/>
          <a:sy n="66" d="100"/>
        </p:scale>
        <p:origin x="1234" y="41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y Agarwal" userId="2752a881923ecb2c" providerId="LiveId" clId="{9D591BC2-C48A-4FC0-B4AF-5DB71DD4C1DD}"/>
    <pc:docChg chg="modSld">
      <pc:chgData name="Shubhy Agarwal" userId="2752a881923ecb2c" providerId="LiveId" clId="{9D591BC2-C48A-4FC0-B4AF-5DB71DD4C1DD}" dt="2026-09-07T16:10:39.060" v="1"/>
      <pc:docMkLst>
        <pc:docMk/>
      </pc:docMkLst>
      <pc:sldChg chg="modSp mod">
        <pc:chgData name="Shubhy Agarwal" userId="2752a881923ecb2c" providerId="LiveId" clId="{9D591BC2-C48A-4FC0-B4AF-5DB71DD4C1DD}" dt="2026-09-07T16:10:39.060" v="1"/>
        <pc:sldMkLst>
          <pc:docMk/>
          <pc:sldMk cId="3863610428" sldId="342"/>
        </pc:sldMkLst>
        <pc:spChg chg="mod">
          <ac:chgData name="Shubhy Agarwal" userId="2752a881923ecb2c" providerId="LiveId" clId="{9D591BC2-C48A-4FC0-B4AF-5DB71DD4C1DD}" dt="2026-09-07T16:10:39.060" v="1"/>
          <ac:spMkLst>
            <pc:docMk/>
            <pc:sldMk cId="3863610428" sldId="342"/>
            <ac:spMk id="3" creationId="{5F0B37E4-66B1-8633-7266-68B32174275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Shubhy Agarwal</a:t>
            </a:r>
            <a:endParaRPr lang="en-IN" b="0" dirty="0">
              <a:solidFill>
                <a:schemeClr val="tx1"/>
              </a:solidFill>
            </a:endParaRPr>
          </a:p>
          <a:p>
            <a:pPr algn="r"/>
            <a:r>
              <a:rPr lang="en-US" b="0" dirty="0">
                <a:solidFill>
                  <a:schemeClr val="tx1"/>
                </a:solidFill>
              </a:rPr>
              <a:t>Bennett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324052" cy="743448"/>
          </a:xfrm>
        </p:spPr>
        <p:txBody>
          <a:bodyPr>
            <a:normAutofit/>
          </a:bodyPr>
          <a:lstStyle/>
          <a:p>
            <a:r>
              <a:rPr lang="en-GB" sz="3200" dirty="0"/>
              <a:t>Project Title –Seasonal Agricultural Performance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592684" cy="369332"/>
          </a:xfrm>
          <a:prstGeom prst="rect">
            <a:avLst/>
          </a:prstGeom>
          <a:noFill/>
        </p:spPr>
        <p:txBody>
          <a:bodyPr wrap="square" rtlCol="0">
            <a:spAutoFit/>
          </a:bodyPr>
          <a:lstStyle/>
          <a:p>
            <a:r>
              <a:rPr lang="en-US" b="1" dirty="0"/>
              <a:t>AICTE STU ID : STU6a2a80aa6a75e1781170346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50506" y="1968758"/>
            <a:ext cx="7287208" cy="4503161"/>
          </a:xfrm>
        </p:spPr>
        <p:txBody>
          <a:bodyPr vert="horz" lIns="91440" tIns="45720" rIns="91440" bIns="45720" rtlCol="0" anchor="t">
            <a:normAutofit fontScale="85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81965" y="428263"/>
            <a:ext cx="8437944" cy="1713053"/>
          </a:xfrm>
        </p:spPr>
        <p:txBody>
          <a:bodyPr>
            <a:normAutofit fontScale="90000"/>
          </a:bodyPr>
          <a:lstStyle/>
          <a:p>
            <a:r>
              <a:rPr lang="en-GB" dirty="0"/>
              <a:t>Project Description</a:t>
            </a:r>
            <a:br>
              <a:rPr lang="en-GB" dirty="0"/>
            </a:br>
            <a:br>
              <a:rPr lang="en-GB" dirty="0"/>
            </a:br>
            <a:r>
              <a:rPr lang="en-US" sz="2200" b="0" dirty="0"/>
              <a:t>This project focuses on analyzing agricultural performance across different seasons using a dataset containing 4,000 farm-level records and 28 variables. The analysis examines factors such as crop production, yield, rainfall, temperature, soil conditions, resource usage, and economic performance. Python and Pandas were used to explore and analyze the dataset, while seasonal and crop-wise comparisons were performed to identify important patterns and variations. Correlation analysis was also used to examine relationships between environmental, resource-related, and agricultural performance factors. The analysis aims to understand how agricultural performance varies across seasons and provide meaningful insights that can support better agricultural planning and decision-making.</a:t>
            </a: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algn="just">
              <a:lnSpc>
                <a:spcPct val="150000"/>
              </a:lnSpc>
            </a:pPr>
            <a:r>
              <a:rPr lang="en-US" sz="3600" dirty="0"/>
              <a:t>The end users of this project include farmers and farm managers, agricultural planners, agribusiness organizations, researchers, and policymakers. The insights from the analysis can help them understand seasonal agricultural performance, make better decisions about crop planning and resource usage, and improve overall farm management.</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Pandas, </a:t>
            </a:r>
            <a:r>
              <a:rPr lang="en-IN" dirty="0" err="1"/>
              <a:t>Numpy</a:t>
            </a:r>
            <a:r>
              <a:rPr lang="en-IN" dirty="0"/>
              <a:t> and 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5747992" cy="830997"/>
          </a:xfrm>
        </p:spPr>
        <p:txBody>
          <a:bodyPr>
            <a:noAutofit/>
          </a:bodyPr>
          <a:lstStyle/>
          <a:p>
            <a:pPr marL="571500" indent="-571500" algn="just">
              <a:buFont typeface="Wingdings" panose="05000000000000000000" pitchFamily="2" charset="2"/>
              <a:buChar char="§"/>
            </a:pPr>
            <a:r>
              <a:rPr lang="en-GB" sz="4300" dirty="0"/>
              <a:t>RESULTS</a:t>
            </a:r>
            <a:br>
              <a:rPr lang="en-GB" sz="1200" dirty="0"/>
            </a:br>
            <a:r>
              <a:rPr lang="en-US" sz="2000" b="0" dirty="0"/>
              <a:t>Kharif season recorded the highest average yield compared with Rabi and Zaid.</a:t>
            </a:r>
            <a:br>
              <a:rPr lang="en-US" sz="2000" b="0" dirty="0"/>
            </a:br>
            <a:br>
              <a:rPr lang="en-US" sz="2000" b="0" dirty="0"/>
            </a:br>
            <a:r>
              <a:rPr lang="en-US" sz="2000" b="0" dirty="0"/>
              <a:t>Kharif also had the highest average profit and total production.</a:t>
            </a:r>
            <a:br>
              <a:rPr lang="en-US" sz="2000" b="0" dirty="0"/>
            </a:br>
            <a:r>
              <a:rPr lang="en-US" sz="2000" b="0" dirty="0"/>
              <a:t>Kharif received the highest average rainfall and had the highest average soil moisture.</a:t>
            </a:r>
            <a:br>
              <a:rPr lang="en-US" sz="2000" b="0" dirty="0"/>
            </a:br>
            <a:br>
              <a:rPr lang="en-US" sz="2000" b="0" dirty="0"/>
            </a:br>
            <a:r>
              <a:rPr lang="en-US" sz="2000" b="0" dirty="0"/>
              <a:t>Zaid had the highest average temperature, sunlight duration, and water usage.</a:t>
            </a:r>
            <a:br>
              <a:rPr lang="en-US" sz="2000" b="0" dirty="0"/>
            </a:br>
            <a:br>
              <a:rPr lang="en-US" sz="2000" b="0" dirty="0"/>
            </a:br>
            <a:r>
              <a:rPr lang="en-US" sz="2000" b="0" dirty="0"/>
              <a:t>Temperature showed almost no linear relationship with yield in the dataset.</a:t>
            </a:r>
            <a:br>
              <a:rPr lang="en-US" sz="2000" b="0" dirty="0"/>
            </a:br>
            <a:r>
              <a:rPr lang="en-US" sz="2000" b="0" dirty="0"/>
              <a:t>Pest risk also showed a very weak relationship with yield.</a:t>
            </a:r>
            <a:r>
              <a:rPr lang="en-GB" sz="2000" b="0" dirty="0"/>
              <a:t> </a:t>
            </a:r>
            <a:endParaRPr lang="en-IN" sz="2000" b="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7E00AE0-D56B-0398-8DCF-05D6F8AA4A34}"/>
              </a:ext>
            </a:extLst>
          </p:cNvPr>
          <p:cNvPicPr>
            <a:picLocks noChangeAspect="1"/>
          </p:cNvPicPr>
          <p:nvPr/>
        </p:nvPicPr>
        <p:blipFill>
          <a:blip r:embed="rId3"/>
          <a:stretch>
            <a:fillRect/>
          </a:stretch>
        </p:blipFill>
        <p:spPr>
          <a:xfrm>
            <a:off x="148500" y="1275371"/>
            <a:ext cx="5592525" cy="5553790"/>
          </a:xfrm>
          <a:prstGeom prst="rect">
            <a:avLst/>
          </a:prstGeom>
        </p:spPr>
      </p:pic>
      <p:pic>
        <p:nvPicPr>
          <p:cNvPr id="9" name="Picture 8">
            <a:extLst>
              <a:ext uri="{FF2B5EF4-FFF2-40B4-BE49-F238E27FC236}">
                <a16:creationId xmlns:a16="http://schemas.microsoft.com/office/drawing/2014/main" id="{1D33E7AD-F5D8-A5B8-1EC8-E68C8BB5E04A}"/>
              </a:ext>
            </a:extLst>
          </p:cNvPr>
          <p:cNvPicPr>
            <a:picLocks noChangeAspect="1"/>
          </p:cNvPicPr>
          <p:nvPr/>
        </p:nvPicPr>
        <p:blipFill>
          <a:blip r:embed="rId4"/>
          <a:stretch>
            <a:fillRect/>
          </a:stretch>
        </p:blipFill>
        <p:spPr>
          <a:xfrm>
            <a:off x="6450975" y="1103471"/>
            <a:ext cx="5420043" cy="572569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0F69AC1-E7C3-6986-C17F-16876B65E8C8}"/>
              </a:ext>
            </a:extLst>
          </p:cNvPr>
          <p:cNvPicPr>
            <a:picLocks noChangeAspect="1"/>
          </p:cNvPicPr>
          <p:nvPr/>
        </p:nvPicPr>
        <p:blipFill>
          <a:blip r:embed="rId3"/>
          <a:stretch>
            <a:fillRect/>
          </a:stretch>
        </p:blipFill>
        <p:spPr>
          <a:xfrm>
            <a:off x="0" y="1020074"/>
            <a:ext cx="5951736" cy="6225678"/>
          </a:xfrm>
          <a:prstGeom prst="rect">
            <a:avLst/>
          </a:prstGeom>
        </p:spPr>
      </p:pic>
      <p:pic>
        <p:nvPicPr>
          <p:cNvPr id="9" name="Picture 8">
            <a:extLst>
              <a:ext uri="{FF2B5EF4-FFF2-40B4-BE49-F238E27FC236}">
                <a16:creationId xmlns:a16="http://schemas.microsoft.com/office/drawing/2014/main" id="{90D4E07A-20D8-D8D6-2BCA-B6CCE670758F}"/>
              </a:ext>
            </a:extLst>
          </p:cNvPr>
          <p:cNvPicPr>
            <a:picLocks noChangeAspect="1"/>
          </p:cNvPicPr>
          <p:nvPr/>
        </p:nvPicPr>
        <p:blipFill>
          <a:blip r:embed="rId4"/>
          <a:stretch>
            <a:fillRect/>
          </a:stretch>
        </p:blipFill>
        <p:spPr>
          <a:xfrm>
            <a:off x="6096000" y="786087"/>
            <a:ext cx="6340389" cy="626418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4076939-1138-77DD-4D6F-DE8320DBDC53}"/>
              </a:ext>
            </a:extLst>
          </p:cNvPr>
          <p:cNvPicPr>
            <a:picLocks noChangeAspect="1"/>
          </p:cNvPicPr>
          <p:nvPr/>
        </p:nvPicPr>
        <p:blipFill>
          <a:blip r:embed="rId3"/>
          <a:stretch>
            <a:fillRect/>
          </a:stretch>
        </p:blipFill>
        <p:spPr>
          <a:xfrm>
            <a:off x="-130412" y="1111235"/>
            <a:ext cx="5593663" cy="6302286"/>
          </a:xfrm>
          <a:prstGeom prst="rect">
            <a:avLst/>
          </a:prstGeom>
        </p:spPr>
      </p:pic>
      <p:pic>
        <p:nvPicPr>
          <p:cNvPr id="9" name="Picture 8">
            <a:extLst>
              <a:ext uri="{FF2B5EF4-FFF2-40B4-BE49-F238E27FC236}">
                <a16:creationId xmlns:a16="http://schemas.microsoft.com/office/drawing/2014/main" id="{B841FCCB-1EA9-6373-FCA9-26E9F77857A6}"/>
              </a:ext>
            </a:extLst>
          </p:cNvPr>
          <p:cNvPicPr>
            <a:picLocks noChangeAspect="1"/>
          </p:cNvPicPr>
          <p:nvPr/>
        </p:nvPicPr>
        <p:blipFill>
          <a:blip r:embed="rId4"/>
          <a:stretch>
            <a:fillRect/>
          </a:stretch>
        </p:blipFill>
        <p:spPr>
          <a:xfrm>
            <a:off x="5724341" y="1111235"/>
            <a:ext cx="5791702" cy="622608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A8411-03DF-11A1-B1BB-1BA94F5C9E9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15A69E-4FF0-0724-B4ED-9F271C2368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D0B440-EBBE-790D-3FE8-02F33A4E033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3502545-173D-391C-6417-2F842029D1B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E518A2D-AF23-5498-A2FE-106D064D5B6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CC94157-EC15-8FF0-36D6-2AFBA68E0345}"/>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BE483CA1-A302-B376-09BB-CA805B1A3F1C}"/>
              </a:ext>
            </a:extLst>
          </p:cNvPr>
          <p:cNvPicPr>
            <a:picLocks noChangeAspect="1"/>
          </p:cNvPicPr>
          <p:nvPr/>
        </p:nvPicPr>
        <p:blipFill>
          <a:blip r:embed="rId3"/>
          <a:stretch>
            <a:fillRect/>
          </a:stretch>
        </p:blipFill>
        <p:spPr>
          <a:xfrm>
            <a:off x="-23179" y="1031360"/>
            <a:ext cx="6331382" cy="6485182"/>
          </a:xfrm>
          <a:prstGeom prst="rect">
            <a:avLst/>
          </a:prstGeom>
        </p:spPr>
      </p:pic>
      <p:pic>
        <p:nvPicPr>
          <p:cNvPr id="12" name="Picture 11">
            <a:extLst>
              <a:ext uri="{FF2B5EF4-FFF2-40B4-BE49-F238E27FC236}">
                <a16:creationId xmlns:a16="http://schemas.microsoft.com/office/drawing/2014/main" id="{FC200285-5F95-1920-DB4F-BAE14A02C1E8}"/>
              </a:ext>
            </a:extLst>
          </p:cNvPr>
          <p:cNvPicPr>
            <a:picLocks noChangeAspect="1"/>
          </p:cNvPicPr>
          <p:nvPr/>
        </p:nvPicPr>
        <p:blipFill>
          <a:blip r:embed="rId4"/>
          <a:stretch>
            <a:fillRect/>
          </a:stretch>
        </p:blipFill>
        <p:spPr>
          <a:xfrm>
            <a:off x="6794385" y="1031360"/>
            <a:ext cx="5778001" cy="6172735"/>
          </a:xfrm>
          <a:prstGeom prst="rect">
            <a:avLst/>
          </a:prstGeom>
        </p:spPr>
      </p:pic>
    </p:spTree>
    <p:extLst>
      <p:ext uri="{BB962C8B-B14F-4D97-AF65-F5344CB8AC3E}">
        <p14:creationId xmlns:p14="http://schemas.microsoft.com/office/powerpoint/2010/main" val="364349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DF24-DAD8-B335-C893-1BD35A2761D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9C10E2-09AF-2C9F-B609-125EDB67414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D5B962-21C4-834C-391D-A877CC588CE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52A56EC-CBA1-E08B-53BD-5E24BBE494C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BB24463-9948-58C8-4642-2E05EE31D22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56363C7-FDD7-6403-678B-EBBEE06093C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33185DA-E169-202B-110F-14F7046C7215}"/>
              </a:ext>
            </a:extLst>
          </p:cNvPr>
          <p:cNvPicPr>
            <a:picLocks noChangeAspect="1"/>
          </p:cNvPicPr>
          <p:nvPr/>
        </p:nvPicPr>
        <p:blipFill>
          <a:blip r:embed="rId3"/>
          <a:stretch>
            <a:fillRect/>
          </a:stretch>
        </p:blipFill>
        <p:spPr>
          <a:xfrm>
            <a:off x="-122459" y="1201586"/>
            <a:ext cx="6218459" cy="6378493"/>
          </a:xfrm>
          <a:prstGeom prst="rect">
            <a:avLst/>
          </a:prstGeom>
        </p:spPr>
      </p:pic>
      <p:pic>
        <p:nvPicPr>
          <p:cNvPr id="9" name="Picture 8">
            <a:extLst>
              <a:ext uri="{FF2B5EF4-FFF2-40B4-BE49-F238E27FC236}">
                <a16:creationId xmlns:a16="http://schemas.microsoft.com/office/drawing/2014/main" id="{55074FFE-2F8B-F7A2-97F8-37EE870E88A4}"/>
              </a:ext>
            </a:extLst>
          </p:cNvPr>
          <p:cNvPicPr>
            <a:picLocks noChangeAspect="1"/>
          </p:cNvPicPr>
          <p:nvPr/>
        </p:nvPicPr>
        <p:blipFill>
          <a:blip r:embed="rId4"/>
          <a:stretch>
            <a:fillRect/>
          </a:stretch>
        </p:blipFill>
        <p:spPr>
          <a:xfrm>
            <a:off x="6220130" y="1201586"/>
            <a:ext cx="6858594" cy="6340389"/>
          </a:xfrm>
          <a:prstGeom prst="rect">
            <a:avLst/>
          </a:prstGeom>
        </p:spPr>
      </p:pic>
    </p:spTree>
    <p:extLst>
      <p:ext uri="{BB962C8B-B14F-4D97-AF65-F5344CB8AC3E}">
        <p14:creationId xmlns:p14="http://schemas.microsoft.com/office/powerpoint/2010/main" val="335648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F650C-F350-E542-7E7B-D8BB14E456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B22AB7E-49FA-20E6-0D2D-D31A650C747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6764DE4-1DD7-A4D7-C63A-F7308D5A809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A6347E3-F1AD-6C57-4871-84FF5B0DFC8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291E30F-3D84-AEA4-C45C-3C86BF57230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1D37FA1-F3A8-FB9F-FF5C-61A59245824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F62729D-0AD7-88CB-BBF9-1D622D2213F6}"/>
              </a:ext>
            </a:extLst>
          </p:cNvPr>
          <p:cNvPicPr>
            <a:picLocks noChangeAspect="1"/>
          </p:cNvPicPr>
          <p:nvPr/>
        </p:nvPicPr>
        <p:blipFill>
          <a:blip r:embed="rId3"/>
          <a:stretch>
            <a:fillRect/>
          </a:stretch>
        </p:blipFill>
        <p:spPr>
          <a:xfrm>
            <a:off x="-98423" y="1103901"/>
            <a:ext cx="6439458" cy="6363251"/>
          </a:xfrm>
          <a:prstGeom prst="rect">
            <a:avLst/>
          </a:prstGeom>
        </p:spPr>
      </p:pic>
      <p:pic>
        <p:nvPicPr>
          <p:cNvPr id="9" name="Picture 8">
            <a:extLst>
              <a:ext uri="{FF2B5EF4-FFF2-40B4-BE49-F238E27FC236}">
                <a16:creationId xmlns:a16="http://schemas.microsoft.com/office/drawing/2014/main" id="{257E2E54-AC4A-9CE0-07CD-D949328E50D4}"/>
              </a:ext>
            </a:extLst>
          </p:cNvPr>
          <p:cNvPicPr>
            <a:picLocks noChangeAspect="1"/>
          </p:cNvPicPr>
          <p:nvPr/>
        </p:nvPicPr>
        <p:blipFill>
          <a:blip r:embed="rId4"/>
          <a:stretch>
            <a:fillRect/>
          </a:stretch>
        </p:blipFill>
        <p:spPr>
          <a:xfrm>
            <a:off x="6440555" y="1103901"/>
            <a:ext cx="6325148" cy="6264183"/>
          </a:xfrm>
          <a:prstGeom prst="rect">
            <a:avLst/>
          </a:prstGeom>
        </p:spPr>
      </p:pic>
    </p:spTree>
    <p:extLst>
      <p:ext uri="{BB962C8B-B14F-4D97-AF65-F5344CB8AC3E}">
        <p14:creationId xmlns:p14="http://schemas.microsoft.com/office/powerpoint/2010/main" val="97721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5D51E-6EED-F731-9DCB-CACF002250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5A1DB10-9076-9A07-3CFC-F415E46D6C1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4369B1A-00BE-D56D-C3E8-9AEE2885AD4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5CC66F7-B015-2213-0BB0-F7A508C0B0D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BBF5540-AC76-70F6-B0A1-0163D258DD6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EAF35AC-D867-EBEA-8E43-5E481FAD448F}"/>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F0DE6C4-C827-03F9-503E-ADAA343F0665}"/>
              </a:ext>
            </a:extLst>
          </p:cNvPr>
          <p:cNvPicPr>
            <a:picLocks noChangeAspect="1"/>
          </p:cNvPicPr>
          <p:nvPr/>
        </p:nvPicPr>
        <p:blipFill>
          <a:blip r:embed="rId3"/>
          <a:stretch>
            <a:fillRect/>
          </a:stretch>
        </p:blipFill>
        <p:spPr>
          <a:xfrm>
            <a:off x="-234589" y="1112671"/>
            <a:ext cx="6873836" cy="6530906"/>
          </a:xfrm>
          <a:prstGeom prst="rect">
            <a:avLst/>
          </a:prstGeom>
        </p:spPr>
      </p:pic>
      <p:pic>
        <p:nvPicPr>
          <p:cNvPr id="9" name="Picture 8">
            <a:extLst>
              <a:ext uri="{FF2B5EF4-FFF2-40B4-BE49-F238E27FC236}">
                <a16:creationId xmlns:a16="http://schemas.microsoft.com/office/drawing/2014/main" id="{8FE2623C-E86F-8516-F59F-CE5533D32B96}"/>
              </a:ext>
            </a:extLst>
          </p:cNvPr>
          <p:cNvPicPr>
            <a:picLocks noChangeAspect="1"/>
          </p:cNvPicPr>
          <p:nvPr/>
        </p:nvPicPr>
        <p:blipFill>
          <a:blip r:embed="rId4"/>
          <a:stretch>
            <a:fillRect/>
          </a:stretch>
        </p:blipFill>
        <p:spPr>
          <a:xfrm>
            <a:off x="6821946" y="981667"/>
            <a:ext cx="7113974" cy="6172735"/>
          </a:xfrm>
          <a:prstGeom prst="rect">
            <a:avLst/>
          </a:prstGeom>
        </p:spPr>
      </p:pic>
    </p:spTree>
    <p:extLst>
      <p:ext uri="{BB962C8B-B14F-4D97-AF65-F5344CB8AC3E}">
        <p14:creationId xmlns:p14="http://schemas.microsoft.com/office/powerpoint/2010/main" val="371767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94CA-3E7A-B386-F93A-D0F95BD619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B6A500-8B57-D2E5-D7C9-20EAAA8F1B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480382-9A09-8471-236E-FE190E2F939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CD14888-F47A-AE2B-359D-24352CCDA3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E530FC-7229-FFB7-1E61-2D085531F13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5010455-4B3C-D689-906B-ABEED2CFEB0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CE9887E-BA7B-155B-8590-BFE73D626164}"/>
              </a:ext>
            </a:extLst>
          </p:cNvPr>
          <p:cNvPicPr>
            <a:picLocks noChangeAspect="1"/>
          </p:cNvPicPr>
          <p:nvPr/>
        </p:nvPicPr>
        <p:blipFill>
          <a:blip r:embed="rId3"/>
          <a:stretch>
            <a:fillRect/>
          </a:stretch>
        </p:blipFill>
        <p:spPr>
          <a:xfrm>
            <a:off x="-705634" y="1104693"/>
            <a:ext cx="7049431" cy="5875529"/>
          </a:xfrm>
          <a:prstGeom prst="rect">
            <a:avLst/>
          </a:prstGeom>
        </p:spPr>
      </p:pic>
      <p:pic>
        <p:nvPicPr>
          <p:cNvPr id="9" name="Picture 8">
            <a:extLst>
              <a:ext uri="{FF2B5EF4-FFF2-40B4-BE49-F238E27FC236}">
                <a16:creationId xmlns:a16="http://schemas.microsoft.com/office/drawing/2014/main" id="{08FCBCE0-2DAF-63A3-B7F0-4AF135585600}"/>
              </a:ext>
            </a:extLst>
          </p:cNvPr>
          <p:cNvPicPr>
            <a:picLocks noChangeAspect="1"/>
          </p:cNvPicPr>
          <p:nvPr/>
        </p:nvPicPr>
        <p:blipFill>
          <a:blip r:embed="rId4"/>
          <a:stretch>
            <a:fillRect/>
          </a:stretch>
        </p:blipFill>
        <p:spPr>
          <a:xfrm>
            <a:off x="6542640" y="1116268"/>
            <a:ext cx="6607113" cy="6294665"/>
          </a:xfrm>
          <a:prstGeom prst="rect">
            <a:avLst/>
          </a:prstGeom>
        </p:spPr>
      </p:pic>
    </p:spTree>
    <p:extLst>
      <p:ext uri="{BB962C8B-B14F-4D97-AF65-F5344CB8AC3E}">
        <p14:creationId xmlns:p14="http://schemas.microsoft.com/office/powerpoint/2010/main" val="336101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2125-547C-0B9A-0937-11685E35F6C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CDBB09B-0B6C-7BB6-FCFD-6C3C685D620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B6EFBBC-9BA1-ABDF-5628-EF30F2B0AF3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F2F0192-3585-E555-0F45-0B98DA5B025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6C9EA37-0710-E1CD-5AC6-F4CC17720C3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E148E89-9CF6-97ED-3608-692E1A79EA43}"/>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198230B-2B86-4D02-B247-28670AD88496}"/>
              </a:ext>
            </a:extLst>
          </p:cNvPr>
          <p:cNvPicPr>
            <a:picLocks noChangeAspect="1"/>
          </p:cNvPicPr>
          <p:nvPr/>
        </p:nvPicPr>
        <p:blipFill>
          <a:blip r:embed="rId3"/>
          <a:stretch>
            <a:fillRect/>
          </a:stretch>
        </p:blipFill>
        <p:spPr>
          <a:xfrm>
            <a:off x="-873857" y="1066372"/>
            <a:ext cx="7064352" cy="6530906"/>
          </a:xfrm>
          <a:prstGeom prst="rect">
            <a:avLst/>
          </a:prstGeom>
        </p:spPr>
      </p:pic>
      <p:pic>
        <p:nvPicPr>
          <p:cNvPr id="9" name="Picture 8">
            <a:extLst>
              <a:ext uri="{FF2B5EF4-FFF2-40B4-BE49-F238E27FC236}">
                <a16:creationId xmlns:a16="http://schemas.microsoft.com/office/drawing/2014/main" id="{C9C8426F-F4B0-C873-2862-D194EAD13BBA}"/>
              </a:ext>
            </a:extLst>
          </p:cNvPr>
          <p:cNvPicPr>
            <a:picLocks noChangeAspect="1"/>
          </p:cNvPicPr>
          <p:nvPr/>
        </p:nvPicPr>
        <p:blipFill>
          <a:blip r:embed="rId4"/>
          <a:stretch>
            <a:fillRect/>
          </a:stretch>
        </p:blipFill>
        <p:spPr>
          <a:xfrm>
            <a:off x="6324516" y="977585"/>
            <a:ext cx="7506350" cy="6523285"/>
          </a:xfrm>
          <a:prstGeom prst="rect">
            <a:avLst/>
          </a:prstGeom>
        </p:spPr>
      </p:pic>
    </p:spTree>
    <p:extLst>
      <p:ext uri="{BB962C8B-B14F-4D97-AF65-F5344CB8AC3E}">
        <p14:creationId xmlns:p14="http://schemas.microsoft.com/office/powerpoint/2010/main" val="398694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98FF8-9640-5E74-1338-F3ADA4C284E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A9C8BF8-CA8F-7DB6-F69B-A6D4CFE2943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9FF077D-B016-CA61-BF2D-E14D48DD08E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15C5E50-345B-F838-50D2-3653F6FD5D2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A326F7E-89FB-7689-1246-4A1335BB3A4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F5494AF-CA8D-FCDF-129C-E6FE0064FC6C}"/>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C0C1CEA-EA89-5AD2-DA16-347DB8FA73F3}"/>
              </a:ext>
            </a:extLst>
          </p:cNvPr>
          <p:cNvPicPr>
            <a:picLocks noChangeAspect="1"/>
          </p:cNvPicPr>
          <p:nvPr/>
        </p:nvPicPr>
        <p:blipFill>
          <a:blip r:embed="rId3"/>
          <a:stretch>
            <a:fillRect/>
          </a:stretch>
        </p:blipFill>
        <p:spPr>
          <a:xfrm>
            <a:off x="-841120" y="1054223"/>
            <a:ext cx="6858594" cy="6439458"/>
          </a:xfrm>
          <a:prstGeom prst="rect">
            <a:avLst/>
          </a:prstGeom>
        </p:spPr>
      </p:pic>
      <p:pic>
        <p:nvPicPr>
          <p:cNvPr id="9" name="Picture 8">
            <a:extLst>
              <a:ext uri="{FF2B5EF4-FFF2-40B4-BE49-F238E27FC236}">
                <a16:creationId xmlns:a16="http://schemas.microsoft.com/office/drawing/2014/main" id="{E4155138-B67F-AB1B-3D8A-D9D0F9FCCB3E}"/>
              </a:ext>
            </a:extLst>
          </p:cNvPr>
          <p:cNvPicPr>
            <a:picLocks noChangeAspect="1"/>
          </p:cNvPicPr>
          <p:nvPr/>
        </p:nvPicPr>
        <p:blipFill>
          <a:blip r:embed="rId4"/>
          <a:stretch>
            <a:fillRect/>
          </a:stretch>
        </p:blipFill>
        <p:spPr>
          <a:xfrm>
            <a:off x="6295911" y="1054223"/>
            <a:ext cx="5410669" cy="6363251"/>
          </a:xfrm>
          <a:prstGeom prst="rect">
            <a:avLst/>
          </a:prstGeom>
        </p:spPr>
      </p:pic>
    </p:spTree>
    <p:extLst>
      <p:ext uri="{BB962C8B-B14F-4D97-AF65-F5344CB8AC3E}">
        <p14:creationId xmlns:p14="http://schemas.microsoft.com/office/powerpoint/2010/main" val="405585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32EDF-B5AF-EE28-A15C-BF73C42C26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54A6C8-E657-DBAB-1715-B0F2E412B65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C166142-5B20-5FB0-A544-51BF36B5CD3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5B10EC-1FB0-6B90-0785-591F18E70C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DBFFD5E-B192-2A4D-2E0A-D4769EF29C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4719675-5153-8ABE-3B4B-B3C46008C1B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D5D1A08-3C06-51EF-BE6C-8115C400B6DE}"/>
              </a:ext>
            </a:extLst>
          </p:cNvPr>
          <p:cNvPicPr>
            <a:picLocks noChangeAspect="1"/>
          </p:cNvPicPr>
          <p:nvPr/>
        </p:nvPicPr>
        <p:blipFill>
          <a:blip r:embed="rId3"/>
          <a:stretch>
            <a:fillRect/>
          </a:stretch>
        </p:blipFill>
        <p:spPr>
          <a:xfrm>
            <a:off x="-1021464" y="1328224"/>
            <a:ext cx="7407282" cy="5159187"/>
          </a:xfrm>
          <a:prstGeom prst="rect">
            <a:avLst/>
          </a:prstGeom>
        </p:spPr>
      </p:pic>
      <p:pic>
        <p:nvPicPr>
          <p:cNvPr id="9" name="Picture 8">
            <a:extLst>
              <a:ext uri="{FF2B5EF4-FFF2-40B4-BE49-F238E27FC236}">
                <a16:creationId xmlns:a16="http://schemas.microsoft.com/office/drawing/2014/main" id="{03AD5317-B7D6-C05D-DB8F-B045FEA4BEC8}"/>
              </a:ext>
            </a:extLst>
          </p:cNvPr>
          <p:cNvPicPr>
            <a:picLocks noChangeAspect="1"/>
          </p:cNvPicPr>
          <p:nvPr/>
        </p:nvPicPr>
        <p:blipFill>
          <a:blip r:embed="rId4"/>
          <a:stretch>
            <a:fillRect/>
          </a:stretch>
        </p:blipFill>
        <p:spPr>
          <a:xfrm>
            <a:off x="5568484" y="1375887"/>
            <a:ext cx="7302564" cy="5063859"/>
          </a:xfrm>
          <a:prstGeom prst="rect">
            <a:avLst/>
          </a:prstGeom>
        </p:spPr>
      </p:pic>
    </p:spTree>
    <p:extLst>
      <p:ext uri="{BB962C8B-B14F-4D97-AF65-F5344CB8AC3E}">
        <p14:creationId xmlns:p14="http://schemas.microsoft.com/office/powerpoint/2010/main" val="283361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5638-E0CB-8A87-0C4A-B8899D8343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58BD855-939E-3DBA-938F-732E0A4CE06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150D7F6-9F19-9319-B5A6-19D4DB2485F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B935448-B2DF-6A89-1CB9-70856A89D9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D93305A-AC5A-6463-7153-AD2EAB7ACB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08F5538-F7BB-7A2F-0D73-12D13146F89A}"/>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12158C68-9B33-DA2A-69CE-11AE7CC1C023}"/>
              </a:ext>
            </a:extLst>
          </p:cNvPr>
          <p:cNvPicPr>
            <a:picLocks noChangeAspect="1"/>
          </p:cNvPicPr>
          <p:nvPr/>
        </p:nvPicPr>
        <p:blipFill>
          <a:blip r:embed="rId3"/>
          <a:stretch>
            <a:fillRect/>
          </a:stretch>
        </p:blipFill>
        <p:spPr>
          <a:xfrm>
            <a:off x="-865508" y="1054080"/>
            <a:ext cx="7369179" cy="6416596"/>
          </a:xfrm>
          <a:prstGeom prst="rect">
            <a:avLst/>
          </a:prstGeom>
        </p:spPr>
      </p:pic>
      <p:pic>
        <p:nvPicPr>
          <p:cNvPr id="12" name="Picture 11">
            <a:extLst>
              <a:ext uri="{FF2B5EF4-FFF2-40B4-BE49-F238E27FC236}">
                <a16:creationId xmlns:a16="http://schemas.microsoft.com/office/drawing/2014/main" id="{E6AF19A2-E0EE-A24C-33A1-EA30CBA5BBC3}"/>
              </a:ext>
            </a:extLst>
          </p:cNvPr>
          <p:cNvPicPr>
            <a:picLocks noChangeAspect="1"/>
          </p:cNvPicPr>
          <p:nvPr/>
        </p:nvPicPr>
        <p:blipFill>
          <a:blip r:embed="rId4"/>
          <a:stretch>
            <a:fillRect/>
          </a:stretch>
        </p:blipFill>
        <p:spPr>
          <a:xfrm>
            <a:off x="6604533" y="934234"/>
            <a:ext cx="8474174" cy="6378493"/>
          </a:xfrm>
          <a:prstGeom prst="rect">
            <a:avLst/>
          </a:prstGeom>
        </p:spPr>
      </p:pic>
    </p:spTree>
    <p:extLst>
      <p:ext uri="{BB962C8B-B14F-4D97-AF65-F5344CB8AC3E}">
        <p14:creationId xmlns:p14="http://schemas.microsoft.com/office/powerpoint/2010/main" val="156431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7761987" cy="830997"/>
          </a:xfrm>
        </p:spPr>
        <p:txBody>
          <a:bodyPr>
            <a:normAutofit fontScale="90000"/>
          </a:bodyPr>
          <a:lstStyle/>
          <a:p>
            <a:pPr marL="571500" indent="-571500" algn="ctr">
              <a:buFont typeface="Arial" panose="020B0604020202020204" pitchFamily="34" charset="0"/>
              <a:buChar char="•"/>
            </a:pPr>
            <a:r>
              <a:rPr lang="en-IN" sz="4000" dirty="0"/>
              <a:t>Future scope</a:t>
            </a:r>
            <a:br>
              <a:rPr lang="en-IN" sz="4000" dirty="0"/>
            </a:br>
            <a:r>
              <a:rPr lang="en-US" sz="2700" b="0" dirty="0"/>
              <a:t>Develop predictive models to forecast crop yield and profit.</a:t>
            </a:r>
            <a:br>
              <a:rPr lang="en-US" sz="2700" b="0" dirty="0"/>
            </a:br>
            <a:br>
              <a:rPr lang="en-US" sz="2700" b="0" dirty="0"/>
            </a:br>
            <a:r>
              <a:rPr lang="en-US" sz="2700" b="0" dirty="0"/>
              <a:t>Integrate real-time weather and market-price data for better decision-making.</a:t>
            </a:r>
            <a:br>
              <a:rPr lang="en-US" sz="2700" b="0" dirty="0"/>
            </a:br>
            <a:br>
              <a:rPr lang="en-US" sz="2700" b="0" dirty="0"/>
            </a:br>
            <a:r>
              <a:rPr lang="en-US" sz="2700" b="0" dirty="0"/>
              <a:t>Build a crop recommendation system based on seasonal and environmental conditions.</a:t>
            </a:r>
            <a:br>
              <a:rPr lang="en-US" sz="2700" b="0" dirty="0"/>
            </a:br>
            <a:br>
              <a:rPr lang="en-US" sz="2700" b="0" dirty="0"/>
            </a:br>
            <a:r>
              <a:rPr lang="en-US" sz="2700" b="0" dirty="0"/>
              <a:t>Optimize water, fertilizer, and pesticide usage for efficient resource management.</a:t>
            </a:r>
            <a:br>
              <a:rPr lang="en-US" sz="2700" b="0" dirty="0"/>
            </a:br>
            <a:br>
              <a:rPr lang="en-US" sz="2700" b="0" dirty="0"/>
            </a:br>
            <a:r>
              <a:rPr lang="en-US" sz="2700" b="0" dirty="0"/>
              <a:t>Extend the analysis with geographical/region-wise data to identify location-specific agricultural patterns.</a:t>
            </a:r>
            <a:endParaRPr lang="en-IN" sz="2700" b="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https://github.com/shubhyagarwal/Seasonal_Agriculture_Performance_Analysis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A173846-972C-AF44-003D-F4ED1BB9E9C3}"/>
              </a:ext>
            </a:extLst>
          </p:cNvPr>
          <p:cNvPicPr>
            <a:picLocks noChangeAspect="1"/>
          </p:cNvPicPr>
          <p:nvPr/>
        </p:nvPicPr>
        <p:blipFill>
          <a:blip r:embed="rId3"/>
          <a:stretch>
            <a:fillRect/>
          </a:stretch>
        </p:blipFill>
        <p:spPr>
          <a:xfrm>
            <a:off x="1054775" y="1275372"/>
            <a:ext cx="7972570" cy="548424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1470</TotalTime>
  <Words>591</Words>
  <Application>Microsoft Office PowerPoint</Application>
  <PresentationFormat>Widescreen</PresentationFormat>
  <Paragraphs>45</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Trebuchet MS</vt:lpstr>
      <vt:lpstr>Wingdings</vt:lpstr>
      <vt:lpstr>Wingdings 3</vt:lpstr>
      <vt:lpstr>Facet</vt:lpstr>
      <vt:lpstr>Project Title –Seasonal Agricultural Performance</vt:lpstr>
      <vt:lpstr>PROBLEM  STATEMENT</vt:lpstr>
      <vt:lpstr>Project Description  This project focuses on analyzing agricultural performance across different seasons using a dataset containing 4,000 farm-level records and 28 variables. The analysis examines factors such as crop production, yield, rainfall, temperature, soil conditions, resource usage, and economic performance. Python and Pandas were used to explore and analyze the dataset, while seasonal and crop-wise comparisons were performed to identify important patterns and variations. Correlation analysis was also used to examine relationships between environmental, resource-related, and agricultural performance factors. The analysis aims to understand how agricultural performance varies across seasons and provide meaningful insights that can support better agricultural planning and decision-making. </vt:lpstr>
      <vt:lpstr>WHO ARE THE END USERS?</vt:lpstr>
      <vt:lpstr>Technology Used</vt:lpstr>
      <vt:lpstr>RESULTS Kharif season recorded the highest average yield compared with Rabi and Zaid.  Kharif also had the highest average profit and total production. Kharif received the highest average rainfall and had the highest average soil moisture.  Zaid had the highest average temperature, sunlight duration, and water usage.  Temperature showed almost no linear relationship with yield in the dataset. Pest risk also showed a very weak relationship with yield.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 Develop predictive models to forecast crop yield and profit.  Integrate real-time weather and market-price data for better decision-making.  Build a crop recommendation system based on seasonal and environmental conditions.  Optimize water, fertilizer, and pesticide usage for efficient resource management.  Extend the analysis with geographical/region-wise data to identify location-specific agricultural patterns.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Shubhy Agarwal</cp:lastModifiedBy>
  <cp:revision>99</cp:revision>
  <dcterms:created xsi:type="dcterms:W3CDTF">2021-07-11T13:13:15Z</dcterms:created>
  <dcterms:modified xsi:type="dcterms:W3CDTF">2026-09-07T16:10:45Z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